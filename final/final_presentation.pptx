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Condition A</c:v>
                </c:pt>
              </c:strCache>
            </c:strRef>
          </c:tx>
          <c:spPr>
            <a:solidFill>
              <a:srgbClr val="B54745"/>
            </a:solidFill>
            <a:ln>
              <a:solidFill>
                <a:srgbClr val="B54745"/>
              </a:solidFill>
            </a:ln>
          </c:spPr>
          <c:cat>
            <c:strRef>
              <c:f>Sheet1!$A$2:$A$5</c:f>
              <c:strCache>
                <c:ptCount val="4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35.7</c:v>
                </c:pt>
                <c:pt idx="1">
                  <c:v>43.3</c:v>
                </c:pt>
                <c:pt idx="2">
                  <c:v>32.0</c:v>
                </c:pt>
                <c:pt idx="3">
                  <c:v>45.8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Condition B</c:v>
                </c:pt>
              </c:strCache>
            </c:strRef>
          </c:tx>
          <c:spPr>
            <a:solidFill>
              <a:srgbClr val="128479"/>
            </a:solidFill>
            <a:ln>
              <a:solidFill>
                <a:srgbClr val="128479"/>
              </a:solidFill>
            </a:ln>
          </c:spPr>
          <c:cat>
            <c:strRef>
              <c:f>Sheet1!$A$2:$A$5</c:f>
              <c:strCache>
                <c:ptCount val="4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57.9</c:v>
                </c:pt>
                <c:pt idx="1">
                  <c:v>61.5</c:v>
                </c:pt>
                <c:pt idx="2">
                  <c:v>44.7</c:v>
                </c:pt>
                <c:pt idx="3">
                  <c:v>63.6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749808"/>
            <a:ext cx="6583680" cy="10972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100" b="1">
                <a:solidFill>
                  <a:srgbClr val="1C2634"/>
                </a:solidFill>
                <a:latin typeface="Helvetica Neue"/>
              </a:rPr>
              <a:t>Trajectory supervision for
continual tool-use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2039112"/>
            <a:ext cx="658368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96880"/>
                </a:solidFill>
                <a:latin typeface="Helvetica Neue"/>
              </a:rPr>
              <a:t>Single-seed Llama 3.1 8B QLoRA pilot on API-Bank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2752" y="932688"/>
            <a:ext cx="237744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3100" b="1">
                <a:solidFill>
                  <a:srgbClr val="128479"/>
                </a:solidFill>
                <a:latin typeface="Helvetica Neue"/>
              </a:rPr>
              <a:t>+17.7 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66175" y="1627632"/>
            <a:ext cx="246888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C2634"/>
                </a:solidFill>
                <a:latin typeface="Helvetica Neue"/>
              </a:rPr>
              <a:t>final exact full-call accuracy
B over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61488"/>
            <a:ext cx="10881360" cy="18288"/>
          </a:xfrm>
          <a:prstGeom prst="rect">
            <a:avLst/>
          </a:prstGeom>
          <a:solidFill>
            <a:srgbClr val="D7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3154680"/>
            <a:ext cx="9784080" cy="1417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634"/>
                </a:solidFill>
                <a:latin typeface="Helvetica Neue"/>
              </a:defRPr>
            </a:pPr>
            <a:r>
              <a:t>Question: does API trajectory context help continual tool-use fine-tuning?</a:t>
            </a:r>
          </a:p>
          <a:p>
            <a:pPr>
              <a:spcAft>
                <a:spcPts val="1000"/>
              </a:spcAft>
              <a:defRPr sz="1800">
                <a:solidFill>
                  <a:srgbClr val="1C2634"/>
                </a:solidFill>
                <a:latin typeface="Helvetica Neue"/>
              </a:defRPr>
            </a:pPr>
            <a:r>
              <a:t>Result: B improves exact calls and API selection.</a:t>
            </a:r>
          </a:p>
          <a:p>
            <a:pPr>
              <a:spcAft>
                <a:spcPts val="1000"/>
              </a:spcAft>
              <a:defRPr sz="1800">
                <a:solidFill>
                  <a:srgbClr val="1C2634"/>
                </a:solidFill>
                <a:latin typeface="Helvetica Neue"/>
              </a:defRPr>
            </a:pPr>
            <a:r>
              <a:t>Caveat: one seed, and B has 25.1% more training tokens.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559552"/>
            <a:ext cx="822960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634"/>
                </a:solidFill>
                <a:latin typeface="Helvetica Neue"/>
              </a:rPr>
              <a:t>Vishnu Vardhan Reddy B, Sagnik Chatterjee, Soumik Bhatta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833872"/>
            <a:ext cx="365760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6880"/>
                </a:solidFill>
                <a:latin typeface="Helvetica Neue"/>
              </a:rPr>
              <a:t>CS 590NN / 690NN Final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64808"/>
            <a:ext cx="27432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CS 590NN Final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20272" y="6464808"/>
            <a:ext cx="2286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1C2634"/>
                </a:solidFill>
                <a:latin typeface="Helvetica Neue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786384"/>
            <a:ext cx="1042416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96880"/>
                </a:solidFill>
                <a:latin typeface="Helvetica Neue"/>
              </a:rPr>
              <a:t>The useful signal is the observable tool-use trace.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78992"/>
            <a:ext cx="10881360" cy="18288"/>
          </a:xfrm>
          <a:prstGeom prst="rect">
            <a:avLst/>
          </a:prstGeom>
          <a:solidFill>
            <a:srgbClr val="D7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72768"/>
            <a:ext cx="4937760" cy="34747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C2634"/>
                </a:solidFill>
                <a:latin typeface="Helvetica Neue"/>
              </a:rPr>
              <a:t>Final answers hide the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487168"/>
            <a:ext cx="5029200" cy="1554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634"/>
                </a:solidFill>
                <a:latin typeface="Helvetica Neue"/>
              </a:defRPr>
            </a:pPr>
            <a:r>
              <a:t>Tool-use examples include API calls, arguments, and observations.</a:t>
            </a:r>
          </a:p>
          <a:p>
            <a:pPr>
              <a:spcAft>
                <a:spcPts val="1000"/>
              </a:spcAft>
              <a:defRPr sz="1700">
                <a:solidFill>
                  <a:srgbClr val="1C2634"/>
                </a:solidFill>
                <a:latin typeface="Helvetica Neue"/>
              </a:defRPr>
            </a:pPr>
            <a:r>
              <a:t>Those traces are not private reasoning.</a:t>
            </a:r>
          </a:p>
          <a:p>
            <a:pPr>
              <a:spcAft>
                <a:spcPts val="1000"/>
              </a:spcAft>
              <a:defRPr sz="1700">
                <a:solidFill>
                  <a:srgbClr val="1C2634"/>
                </a:solidFill>
                <a:latin typeface="Helvetica Neue"/>
              </a:defRPr>
            </a:pPr>
            <a:r>
              <a:t>They still give an action-observation history before the next API call.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65392" y="1572768"/>
            <a:ext cx="36576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28479"/>
                </a:solidFill>
                <a:latin typeface="Helvetica Neue"/>
              </a:rPr>
              <a:t>Our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1968" y="2148840"/>
            <a:ext cx="429768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C2634"/>
                </a:solidFill>
                <a:latin typeface="Helvetica Neue"/>
              </a:defRPr>
            </a:pPr>
            <a:r>
              <a:t>A: stripped context</a:t>
            </a:r>
          </a:p>
          <a:p>
            <a:pPr>
              <a:spcAft>
                <a:spcPts val="1200"/>
              </a:spcAft>
              <a:defRPr sz="1800">
                <a:solidFill>
                  <a:srgbClr val="1C2634"/>
                </a:solidFill>
                <a:latin typeface="Helvetica Neue"/>
              </a:defRPr>
            </a:pPr>
            <a:r>
              <a:t>B: trajectory context</a:t>
            </a:r>
          </a:p>
          <a:p>
            <a:pPr>
              <a:spcAft>
                <a:spcPts val="1200"/>
              </a:spcAft>
              <a:defRPr sz="1800">
                <a:solidFill>
                  <a:srgbClr val="1C2634"/>
                </a:solidFill>
                <a:latin typeface="Helvetica Neue"/>
              </a:defRPr>
            </a:pPr>
            <a:r>
              <a:t>Same base model, seed, stream order, and scoring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1014984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C2634"/>
                </a:solidFill>
                <a:latin typeface="Helvetica Neue"/>
              </a:rPr>
              <a:t>The question is whether keeping the trace changes continual next-call learning.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64808"/>
            <a:ext cx="27432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CS 590NN Final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20272" y="6464808"/>
            <a:ext cx="2286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1C2634"/>
                </a:solidFill>
                <a:latin typeface="Helvetica Neue"/>
              </a:rPr>
              <a:t>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786384"/>
            <a:ext cx="1042416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96880"/>
                </a:solidFill>
                <a:latin typeface="Helvetica Neue"/>
              </a:rPr>
              <a:t>Train sequentially; evaluate every block after each stage.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78992"/>
            <a:ext cx="10881360" cy="18288"/>
          </a:xfrm>
          <a:prstGeom prst="rect">
            <a:avLst/>
          </a:prstGeom>
          <a:solidFill>
            <a:srgbClr val="D7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" y="1901952"/>
            <a:ext cx="1234440" cy="640080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011680"/>
            <a:ext cx="1014984" cy="4754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28479"/>
                </a:solidFill>
                <a:latin typeface="Helvetica Neue"/>
              </a:rPr>
              <a:t>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615184"/>
            <a:ext cx="123444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96880"/>
                </a:solidFill>
                <a:latin typeface="Helvetica Neue"/>
              </a:rPr>
              <a:t>train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2576" y="2057400"/>
            <a:ext cx="41148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596880"/>
                </a:solidFill>
                <a:latin typeface="Helvetica Neue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1901952"/>
            <a:ext cx="1234440" cy="640080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2011680"/>
            <a:ext cx="1014984" cy="4754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28479"/>
                </a:solidFill>
                <a:latin typeface="Helvetica Neue"/>
              </a:rP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2424" y="2615184"/>
            <a:ext cx="123444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96880"/>
                </a:solidFill>
                <a:latin typeface="Helvetica Neue"/>
              </a:rPr>
              <a:t>train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2057400"/>
            <a:ext cx="41148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596880"/>
                </a:solidFill>
                <a:latin typeface="Helvetica Neue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7024" y="1901952"/>
            <a:ext cx="1234440" cy="640080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2011680"/>
            <a:ext cx="1014984" cy="4754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28479"/>
                </a:solidFill>
                <a:latin typeface="Helvetica Neue"/>
              </a:rPr>
              <a:t>D3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7024" y="2615184"/>
            <a:ext cx="123444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96880"/>
                </a:solidFill>
                <a:latin typeface="Helvetica Neue"/>
              </a:rPr>
              <a:t>train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51775" y="2057400"/>
            <a:ext cx="41148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596880"/>
                </a:solidFill>
                <a:latin typeface="Helvetica Neue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21624" y="1901952"/>
            <a:ext cx="1234440" cy="640080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1352" y="2011680"/>
            <a:ext cx="1014984" cy="4754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28479"/>
                </a:solidFill>
                <a:latin typeface="Helvetica Neue"/>
              </a:rPr>
              <a:t>D4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615184"/>
            <a:ext cx="123444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96880"/>
                </a:solidFill>
                <a:latin typeface="Helvetica Neue"/>
              </a:rPr>
              <a:t>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310128"/>
            <a:ext cx="97840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C2634"/>
                </a:solidFill>
                <a:latin typeface="Helvetica Neue"/>
              </a:rPr>
              <a:t>After each training stage: score D1, D2, D3, and D4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77639"/>
            <a:ext cx="10881360" cy="18288"/>
          </a:xfrm>
          <a:prstGeom prst="rect">
            <a:avLst/>
          </a:prstGeom>
          <a:solidFill>
            <a:srgbClr val="D7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590288"/>
            <a:ext cx="18288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B54745"/>
                </a:solidFill>
                <a:latin typeface="Helvetica Neue"/>
              </a:rPr>
              <a:t>Condition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626864"/>
            <a:ext cx="393192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C2634"/>
                </a:solidFill>
                <a:latin typeface="Helvetica Neue"/>
              </a:rPr>
              <a:t>Stripped-context next-API-call baseline.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230368"/>
            <a:ext cx="18288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28479"/>
                </a:solidFill>
                <a:latin typeface="Helvetica Neue"/>
              </a:rPr>
              <a:t>Condition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5266944"/>
            <a:ext cx="411480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C2634"/>
                </a:solidFill>
                <a:latin typeface="Helvetica Neue"/>
              </a:rPr>
              <a:t>Trajectory-context next-API-call format.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64808"/>
            <a:ext cx="27432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CS 590NN Final Project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20272" y="6464808"/>
            <a:ext cx="2286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1C2634"/>
                </a:solidFill>
                <a:latin typeface="Helvetica Neue"/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786384"/>
            <a:ext cx="1042416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96880"/>
                </a:solidFill>
                <a:latin typeface="Helvetica Neue"/>
              </a:rPr>
              <a:t>Same model and scoring pipeline; B sees more prompt tokens.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78992"/>
            <a:ext cx="10881360" cy="18288"/>
          </a:xfrm>
          <a:prstGeom prst="rect">
            <a:avLst/>
          </a:prstGeom>
          <a:solidFill>
            <a:srgbClr val="D7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417320"/>
          <a:ext cx="653796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4572000"/>
              </a:tblGrid>
              <a:tr h="44674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C26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1C2634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Model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Llama 3.1 8B Instruct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Fine-tuning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QLoRA, rank 32, alpha 64, 4-bit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Data stream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API-Bank split into D1-D4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Seed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Full eval examples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126, 104, 103, 107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</a:tr>
              <a:tr h="44675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Train tokens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A 1.86M, B 2.32M (+25.1%)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47888" y="1572768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28479"/>
                </a:solidFill>
                <a:latin typeface="Helvetica Neue"/>
              </a:rPr>
              <a:t>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66175" y="2084831"/>
            <a:ext cx="2971800" cy="1417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634"/>
                </a:solidFill>
                <a:latin typeface="Helvetica Neue"/>
              </a:defRPr>
            </a:pPr>
            <a:r>
              <a:t>API-name accuracy</a:t>
            </a:r>
          </a:p>
          <a:p>
            <a:pPr>
              <a:spcAft>
                <a:spcPts val="800"/>
              </a:spcAft>
              <a:defRPr sz="1500">
                <a:solidFill>
                  <a:srgbClr val="1C2634"/>
                </a:solidFill>
                <a:latin typeface="Helvetica Neue"/>
              </a:defRPr>
            </a:pPr>
            <a:r>
              <a:t>Exact full-call accuracy</a:t>
            </a:r>
          </a:p>
          <a:p>
            <a:pPr>
              <a:spcAft>
                <a:spcPts val="800"/>
              </a:spcAft>
              <a:defRPr sz="1500">
                <a:solidFill>
                  <a:srgbClr val="1C2634"/>
                </a:solidFill>
                <a:latin typeface="Helvetica Neue"/>
              </a:defRPr>
            </a:pPr>
            <a:r>
              <a:t>Name + any parameter</a:t>
            </a:r>
          </a:p>
          <a:p>
            <a:pPr>
              <a:spcAft>
                <a:spcPts val="800"/>
              </a:spcAft>
              <a:defRPr sz="1500">
                <a:solidFill>
                  <a:srgbClr val="1C2634"/>
                </a:solidFill>
                <a:latin typeface="Helvetica Neue"/>
              </a:defRPr>
            </a:pPr>
            <a:r>
              <a:t>Malformed or no-call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230368"/>
            <a:ext cx="978408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C2634"/>
                </a:solidFill>
                <a:latin typeface="Helvetica Neue"/>
              </a:rPr>
              <a:t>Token count is the main fairness caveat.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64808"/>
            <a:ext cx="27432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CS 590NN Final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20272" y="6464808"/>
            <a:ext cx="2286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1C2634"/>
                </a:solidFill>
                <a:latin typeface="Helvetica Neue"/>
              </a:rPr>
              <a:t>Main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786384"/>
            <a:ext cx="1042416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96880"/>
                </a:solidFill>
                <a:latin typeface="Helvetica Neue"/>
              </a:rPr>
              <a:t>B has higher final exact full-call accuracy on every held-out block.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78992"/>
            <a:ext cx="10881360" cy="18288"/>
          </a:xfrm>
          <a:prstGeom prst="rect">
            <a:avLst/>
          </a:prstGeom>
          <a:solidFill>
            <a:srgbClr val="D7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298448"/>
            <a:ext cx="155448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900" b="1">
                <a:solidFill>
                  <a:srgbClr val="B54745"/>
                </a:solidFill>
                <a:latin typeface="Helvetica Neue"/>
              </a:rPr>
              <a:t>39.2%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73936"/>
            <a:ext cx="155448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96880"/>
                </a:solidFill>
                <a:latin typeface="Helvetica Neue"/>
              </a:rPr>
              <a:t>A mean exact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298448"/>
            <a:ext cx="155448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900" b="1">
                <a:solidFill>
                  <a:srgbClr val="128479"/>
                </a:solidFill>
                <a:latin typeface="Helvetica Neue"/>
              </a:rPr>
              <a:t>56.9%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773936"/>
            <a:ext cx="155448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96880"/>
                </a:solidFill>
                <a:latin typeface="Helvetica Neue"/>
              </a:rPr>
              <a:t>B mean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298448"/>
            <a:ext cx="155448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900" b="1">
                <a:solidFill>
                  <a:srgbClr val="AE7A25"/>
                </a:solidFill>
                <a:latin typeface="Helvetica Neue"/>
              </a:rPr>
              <a:t>+17.7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773936"/>
            <a:ext cx="155448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96880"/>
                </a:solidFill>
                <a:latin typeface="Helvetica Neue"/>
              </a:rPr>
              <a:t>point gap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914400" y="2304288"/>
          <a:ext cx="99669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059168" y="1444752"/>
            <a:ext cx="393192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500" b="0">
                <a:solidFill>
                  <a:srgbClr val="596880"/>
                </a:solidFill>
                <a:latin typeface="Helvetica Neue"/>
              </a:rPr>
              <a:t>Still not causal: B also trains on more tokens.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64808"/>
            <a:ext cx="27432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CS 590NN Final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0272" y="6464808"/>
            <a:ext cx="2286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1C2634"/>
                </a:solidFill>
                <a:latin typeface="Helvetica Neue"/>
              </a:rPr>
              <a:t>Continual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786384"/>
            <a:ext cx="1042416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96880"/>
                </a:solidFill>
                <a:latin typeface="Helvetica Neue"/>
              </a:rPr>
              <a:t>We score all blocks after each training stage.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78992"/>
            <a:ext cx="10881360" cy="18288"/>
          </a:xfrm>
          <a:prstGeom prst="rect">
            <a:avLst/>
          </a:prstGeom>
          <a:solidFill>
            <a:srgbClr val="D7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ull_eval_exact_full_heatmaps_seed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118" y="1417320"/>
            <a:ext cx="8275204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5742432"/>
            <a:ext cx="950976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1C2634"/>
                </a:solidFill>
                <a:latin typeface="Helvetica Neue"/>
              </a:rPr>
              <a:t>B is higher on every final-stage block and most earlier train/eval pairs.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64808"/>
            <a:ext cx="27432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CS 590NN Final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0272" y="6464808"/>
            <a:ext cx="2286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1C2634"/>
                </a:solidFill>
                <a:latin typeface="Helvetica Neue"/>
              </a:rPr>
              <a:t>Failure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786384"/>
            <a:ext cx="1042416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96880"/>
                </a:solidFill>
                <a:latin typeface="Helvetica Neue"/>
              </a:rPr>
              <a:t>Trajectory context improves API choice but increases parse failures.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78992"/>
            <a:ext cx="10881360" cy="18288"/>
          </a:xfrm>
          <a:prstGeom prst="rect">
            <a:avLst/>
          </a:prstGeom>
          <a:solidFill>
            <a:srgbClr val="D7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444752"/>
          <a:ext cx="103784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005840"/>
                <a:gridCol w="1005840"/>
                <a:gridCol w="4709160"/>
              </a:tblGrid>
              <a:tr h="49377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Category</a:t>
                      </a:r>
                    </a:p>
                  </a:txBody>
                  <a:tcPr marL="54864" marR="54864" marT="27432" marB="27432">
                    <a:solidFill>
                      <a:srgbClr val="1C26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A</a:t>
                      </a:r>
                    </a:p>
                  </a:txBody>
                  <a:tcPr marL="54864" marR="54864" marT="27432" marB="27432">
                    <a:solidFill>
                      <a:srgbClr val="1C26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B</a:t>
                      </a:r>
                    </a:p>
                  </a:txBody>
                  <a:tcPr marL="54864" marR="54864" marT="27432" marB="27432">
                    <a:solidFill>
                      <a:srgbClr val="1C26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Read</a:t>
                      </a:r>
                    </a:p>
                  </a:txBody>
                  <a:tcPr marL="54864" marR="54864" marT="27432" marB="27432">
                    <a:solidFill>
                      <a:srgbClr val="1C263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Exact full calls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172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251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B higher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Wrong API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102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B lower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Wrong / partial params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121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76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B lower</a:t>
                      </a:r>
                    </a:p>
                  </a:txBody>
                  <a:tcPr marL="54864" marR="54864" marT="27432" marB="27432">
                    <a:solidFill>
                      <a:srgbClr val="F6F8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Malformed / no call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101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2634"/>
                          </a:solidFill>
                          <a:latin typeface="Helvetica Neue"/>
                        </a:defRPr>
                      </a:pPr>
                      <a:r>
                        <a:t>B higher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645152"/>
            <a:ext cx="18288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28479"/>
                </a:solidFill>
                <a:latin typeface="Helvetica Neue"/>
              </a:rPr>
              <a:t>Takeaway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4663440"/>
            <a:ext cx="80467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C2634"/>
                </a:solidFill>
                <a:latin typeface="Helvetica Neue"/>
              </a:rPr>
              <a:t>B chooses the right API more often, but exact formatting is less stable.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64808"/>
            <a:ext cx="27432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CS 590NN Final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20272" y="6464808"/>
            <a:ext cx="2286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1C2634"/>
                </a:solidFill>
                <a:latin typeface="Helvetica Neue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786384"/>
            <a:ext cx="1042416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96880"/>
                </a:solidFill>
                <a:latin typeface="Helvetica Neue"/>
              </a:rPr>
              <a:t>Current evidence is a single-seed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78992"/>
            <a:ext cx="10881360" cy="18288"/>
          </a:xfrm>
          <a:prstGeom prst="rect">
            <a:avLst/>
          </a:prstGeom>
          <a:solidFill>
            <a:srgbClr val="D7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31089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28479"/>
                </a:solidFill>
                <a:latin typeface="Helvetica Neue"/>
              </a:rPr>
              <a:t>What we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084831"/>
            <a:ext cx="4389120" cy="1005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634"/>
                </a:solidFill>
                <a:latin typeface="Helvetica Neue"/>
              </a:defRPr>
            </a:pPr>
            <a:r>
              <a:t>Trajectory context favored exact calls: 56.9% vs 39.2%.</a:t>
            </a:r>
          </a:p>
          <a:p>
            <a:pPr>
              <a:spcAft>
                <a:spcPts val="900"/>
              </a:spcAft>
              <a:defRPr sz="1600">
                <a:solidFill>
                  <a:srgbClr val="1C2634"/>
                </a:solidFill>
                <a:latin typeface="Helvetica Neue"/>
              </a:defRPr>
            </a:pPr>
            <a:r>
              <a:t>It strongly reduced wrong-API errors: 12 vs 102.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03320"/>
            <a:ext cx="201168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B54745"/>
                </a:solidFill>
                <a:latin typeface="Helvetica Neue"/>
              </a:rPr>
              <a:t>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4261104"/>
            <a:ext cx="4389120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634"/>
                </a:solidFill>
                <a:latin typeface="Helvetica Neue"/>
              </a:defRPr>
            </a:pPr>
            <a:r>
              <a:t>One seed.</a:t>
            </a:r>
          </a:p>
          <a:p>
            <a:pPr>
              <a:spcAft>
                <a:spcPts val="900"/>
              </a:spcAft>
              <a:defRPr sz="1600">
                <a:solidFill>
                  <a:srgbClr val="1C2634"/>
                </a:solidFill>
                <a:latin typeface="Helvetica Neue"/>
              </a:defRPr>
            </a:pPr>
            <a:r>
              <a:t>B has more tokens.</a:t>
            </a:r>
          </a:p>
          <a:p>
            <a:pPr>
              <a:spcAft>
                <a:spcPts val="900"/>
              </a:spcAft>
              <a:defRPr sz="1600">
                <a:solidFill>
                  <a:srgbClr val="1C2634"/>
                </a:solidFill>
                <a:latin typeface="Helvetica Neue"/>
              </a:defRPr>
            </a:pPr>
            <a:r>
              <a:t>Next-call benchmark, not full task success.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508760"/>
            <a:ext cx="182880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AE7A25"/>
                </a:solidFill>
                <a:latin typeface="Helvetica Neue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93408" y="2084831"/>
            <a:ext cx="420624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634"/>
                </a:solidFill>
                <a:latin typeface="Helvetica Neue"/>
              </a:defRPr>
            </a:pPr>
            <a:r>
              <a:t>Run multiple seeds.</a:t>
            </a:r>
          </a:p>
          <a:p>
            <a:pPr>
              <a:spcAft>
                <a:spcPts val="1000"/>
              </a:spcAft>
              <a:defRPr sz="1700">
                <a:solidFill>
                  <a:srgbClr val="1C2634"/>
                </a:solidFill>
                <a:latin typeface="Helvetica Neue"/>
              </a:defRPr>
            </a:pPr>
            <a:r>
              <a:t>Train a token-matched B condition.</a:t>
            </a:r>
          </a:p>
          <a:p>
            <a:pPr>
              <a:spcAft>
                <a:spcPts val="1000"/>
              </a:spcAft>
              <a:defRPr sz="1700">
                <a:solidFill>
                  <a:srgbClr val="1C2634"/>
                </a:solidFill>
                <a:latin typeface="Helvetica Neue"/>
              </a:defRPr>
            </a:pPr>
            <a:r>
              <a:t>Add semantic argument scoring.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06440"/>
            <a:ext cx="104241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1C2634"/>
                </a:solidFill>
                <a:latin typeface="Helvetica Neue"/>
              </a:rPr>
              <a:t>Bottom line: trajectory context helps tool identity, but exact call formatting still needs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64808"/>
            <a:ext cx="27432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CS 590NN Final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20272" y="6464808"/>
            <a:ext cx="228600" cy="16459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700" b="0">
                <a:solidFill>
                  <a:srgbClr val="596880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