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Condition A</c:v>
                </c:pt>
              </c:strCache>
            </c:strRef>
          </c:tx>
          <c:spPr>
            <a:solidFill>
              <a:srgbClr val="B94846"/>
            </a:solidFill>
            <a:ln>
              <a:solidFill>
                <a:srgbClr val="B94846"/>
              </a:solidFill>
            </a:ln>
          </c:spPr>
          <c:cat>
            <c:strRef>
              <c:f>Sheet1!$A$2:$A$5</c:f>
              <c:strCache>
                <c:ptCount val="4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35.7</c:v>
                </c:pt>
                <c:pt idx="1">
                  <c:v>43.3</c:v>
                </c:pt>
                <c:pt idx="2">
                  <c:v>32.0</c:v>
                </c:pt>
                <c:pt idx="3">
                  <c:v>45.8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Condition B</c:v>
                </c:pt>
              </c:strCache>
            </c:strRef>
          </c:tx>
          <c:spPr>
            <a:solidFill>
              <a:srgbClr val="148479"/>
            </a:solidFill>
            <a:ln>
              <a:solidFill>
                <a:srgbClr val="148479"/>
              </a:solidFill>
            </a:ln>
          </c:spPr>
          <c:cat>
            <c:strRef>
              <c:f>Sheet1!$A$2:$A$5</c:f>
              <c:strCache>
                <c:ptCount val="4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57.9</c:v>
                </c:pt>
                <c:pt idx="1">
                  <c:v>61.5</c:v>
                </c:pt>
                <c:pt idx="2">
                  <c:v>44.7</c:v>
                </c:pt>
                <c:pt idx="3">
                  <c:v>63.6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7863840" cy="118872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3600" b="1">
                <a:solidFill>
                  <a:srgbClr val="1D2735"/>
                </a:solidFill>
                <a:latin typeface="Aptos"/>
              </a:rPr>
              <a:t>Trajectory supervision for continual tool-use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4944" y="1847088"/>
            <a:ext cx="6949440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700" b="0">
                <a:solidFill>
                  <a:srgbClr val="5E6C84"/>
                </a:solidFill>
                <a:latin typeface="Aptos"/>
              </a:rPr>
              <a:t>Single-seed Llama 3.1 8B QLoRA pilot on API-Bank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83879" y="713232"/>
            <a:ext cx="3246120" cy="2651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58200" y="1078992"/>
            <a:ext cx="2697480" cy="69494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3800" b="1">
                <a:solidFill>
                  <a:srgbClr val="148479"/>
                </a:solidFill>
                <a:latin typeface="Aptos"/>
              </a:rPr>
              <a:t>+17.7 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13648" y="1847088"/>
            <a:ext cx="2377440" cy="6583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1D2735"/>
                </a:solidFill>
                <a:latin typeface="Aptos"/>
              </a:rPr>
              <a:t>final exact full-call accuracy
Condition B over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85632" y="2788920"/>
            <a:ext cx="2743200" cy="29260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5E6C84"/>
                </a:solidFill>
                <a:latin typeface="Aptos"/>
              </a:rPr>
              <a:t>A: stripped context  |  B: trajectory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944368"/>
            <a:ext cx="7132320" cy="1481328"/>
          </a:xfrm>
          <a:prstGeom prst="rect">
            <a:avLst/>
          </a:prstGeom>
          <a:noFill/>
        </p:spPr>
        <p:txBody>
          <a:bodyPr wrap="none" lIns="73152" rIns="73152" tIns="27432" bIns="27432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D2735"/>
                </a:solidFill>
                <a:latin typeface="Aptos"/>
              </a:defRPr>
            </a:pPr>
            <a:r>
              <a:t>Question: does preserving API-call trajectory context help continual tool-use fine-tuning?</a:t>
            </a:r>
          </a:p>
          <a:p>
            <a:pPr>
              <a:spcAft>
                <a:spcPts val="1000"/>
              </a:spcAft>
              <a:defRPr sz="2000">
                <a:solidFill>
                  <a:srgbClr val="1D2735"/>
                </a:solidFill>
                <a:latin typeface="Aptos"/>
              </a:defRPr>
            </a:pPr>
            <a:r>
              <a:t>Result: B improves API selection and final exact calls, but formatting errors increase.</a:t>
            </a:r>
          </a:p>
          <a:p>
            <a:pPr>
              <a:spcAft>
                <a:spcPts val="1000"/>
              </a:spcAft>
              <a:defRPr sz="2000">
                <a:solidFill>
                  <a:srgbClr val="1D2735"/>
                </a:solidFill>
                <a:latin typeface="Aptos"/>
              </a:defRPr>
            </a:pPr>
            <a:r>
              <a:t>Caveat: one seed and B has 25.1% more training tokens.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5559552"/>
            <a:ext cx="7955279" cy="31089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400" b="0">
                <a:solidFill>
                  <a:srgbClr val="1D2735"/>
                </a:solidFill>
                <a:latin typeface="Aptos"/>
              </a:rPr>
              <a:t>Vishnu Vardhan Reddy B, Sagnik Chatterjee, Soumik Bhatta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5870448"/>
            <a:ext cx="493776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E6C84"/>
                </a:solidFill>
                <a:latin typeface="Aptos"/>
              </a:rPr>
              <a:t>CS 590NN / 690NN Final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6437376"/>
            <a:ext cx="292608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E6C84"/>
                </a:solidFill>
                <a:latin typeface="Aptos"/>
              </a:rPr>
              <a:t>CS 590NN Final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37376"/>
            <a:ext cx="32004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r"/>
            <a:r>
              <a:rPr sz="800" b="0">
                <a:solidFill>
                  <a:srgbClr val="5E6C84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9875520" cy="53035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D2735"/>
                </a:solidFill>
                <a:latin typeface="Aptos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50392"/>
            <a:ext cx="9692640" cy="31089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E6C84"/>
                </a:solidFill>
                <a:latin typeface="Aptos"/>
              </a:rPr>
              <a:t>Tool-use learning often discards the intermediate action trace.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152144"/>
            <a:ext cx="10972800" cy="18288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536192"/>
            <a:ext cx="5669280" cy="1920240"/>
          </a:xfrm>
          <a:prstGeom prst="rect">
            <a:avLst/>
          </a:prstGeom>
          <a:noFill/>
        </p:spPr>
        <p:txBody>
          <a:bodyPr wrap="none" lIns="73152" rIns="73152" tIns="27432" bIns="27432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D2735"/>
                </a:solidFill>
                <a:latin typeface="Aptos"/>
              </a:defRPr>
            </a:pPr>
            <a:r>
              <a:t>Many fine-tuning examples supervise the final answer or next call in isolation.</a:t>
            </a:r>
          </a:p>
          <a:p>
            <a:pPr>
              <a:spcAft>
                <a:spcPts val="1000"/>
              </a:spcAft>
              <a:defRPr sz="2200">
                <a:solidFill>
                  <a:srgbClr val="1D2735"/>
                </a:solidFill>
                <a:latin typeface="Aptos"/>
              </a:defRPr>
            </a:pPr>
            <a:r>
              <a:t>Tool-use tasks have structured process traces: prior API calls, arguments, and observations.</a:t>
            </a:r>
          </a:p>
          <a:p>
            <a:pPr>
              <a:spcAft>
                <a:spcPts val="1000"/>
              </a:spcAft>
              <a:defRPr sz="2200">
                <a:solidFill>
                  <a:srgbClr val="1D2735"/>
                </a:solidFill>
                <a:latin typeface="Aptos"/>
              </a:defRPr>
            </a:pPr>
            <a:r>
              <a:t>We test whether keeping that trace helps the model retain API behavior across sequential training blocks.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9984" y="1499616"/>
            <a:ext cx="4526280" cy="2880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59168" y="1810512"/>
            <a:ext cx="3840480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D2735"/>
                </a:solidFill>
                <a:latin typeface="Aptos"/>
              </a:rPr>
              <a:t>Process proxy, not hidden reasoning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9168" y="2340864"/>
            <a:ext cx="3703320" cy="1444752"/>
          </a:xfrm>
          <a:prstGeom prst="rect">
            <a:avLst/>
          </a:prstGeom>
          <a:noFill/>
        </p:spPr>
        <p:txBody>
          <a:bodyPr wrap="none" lIns="73152" rIns="73152" tIns="27432" bIns="27432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D2735"/>
                </a:solidFill>
                <a:latin typeface="Aptos"/>
              </a:defRPr>
            </a:pPr>
            <a:r>
              <a:t>Uses observable API trajectory fields.</a:t>
            </a:r>
          </a:p>
          <a:p>
            <a:pPr>
              <a:spcAft>
                <a:spcPts val="1000"/>
              </a:spcAft>
              <a:defRPr sz="1700">
                <a:solidFill>
                  <a:srgbClr val="1D2735"/>
                </a:solidFill>
                <a:latin typeface="Aptos"/>
              </a:defRPr>
            </a:pPr>
            <a:r>
              <a:t>No claim about hidden reasoning.</a:t>
            </a:r>
          </a:p>
          <a:p>
            <a:pPr>
              <a:spcAft>
                <a:spcPts val="1000"/>
              </a:spcAft>
              <a:defRPr sz="1700">
                <a:solidFill>
                  <a:srgbClr val="1D2735"/>
                </a:solidFill>
                <a:latin typeface="Aptos"/>
              </a:defRPr>
            </a:pPr>
            <a:r>
              <a:t>Compares two prompt formats under the same API-Bank split.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6437376"/>
            <a:ext cx="292608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E6C84"/>
                </a:solidFill>
                <a:latin typeface="Aptos"/>
              </a:rPr>
              <a:t>CS 590NN Final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32004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r"/>
            <a:r>
              <a:rPr sz="800" b="0">
                <a:solidFill>
                  <a:srgbClr val="5E6C84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9875520" cy="53035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D2735"/>
                </a:solidFill>
                <a:latin typeface="Aptos"/>
              </a:rPr>
              <a:t>Experiment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50392"/>
            <a:ext cx="9692640" cy="31089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E6C84"/>
                </a:solidFill>
                <a:latin typeface="Aptos"/>
              </a:rPr>
              <a:t>Four sequential API-Bank blocks; evaluate all blocks after each training stage.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152144"/>
            <a:ext cx="10972800" cy="18288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6112" y="1874519"/>
            <a:ext cx="1508760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29968"/>
            <a:ext cx="150876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148479"/>
                </a:solidFill>
                <a:latin typeface="Aptos"/>
              </a:rPr>
              <a:t>D1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31720"/>
            <a:ext cx="1508760" cy="18288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5E6C84"/>
                </a:solidFill>
                <a:latin typeface="Aptos"/>
              </a:rPr>
              <a:t>train stage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2888" y="2048256"/>
            <a:ext cx="41148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5E6C84"/>
                </a:solidFill>
                <a:latin typeface="Aptos"/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27832" y="1874519"/>
            <a:ext cx="1508760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27832" y="2029968"/>
            <a:ext cx="150876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148479"/>
                </a:solidFill>
                <a:latin typeface="Aptos"/>
              </a:rPr>
              <a:t>D2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2331720"/>
            <a:ext cx="1508760" cy="18288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5E6C84"/>
                </a:solidFill>
                <a:latin typeface="Aptos"/>
              </a:rPr>
              <a:t>train 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4608" y="2048256"/>
            <a:ext cx="41148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5E6C84"/>
                </a:solidFill>
                <a:latin typeface="Aptos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59552" y="1874519"/>
            <a:ext cx="1508760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59552" y="2029968"/>
            <a:ext cx="150876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148479"/>
                </a:solidFill>
                <a:latin typeface="Aptos"/>
              </a:rPr>
              <a:t>D3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9552" y="2331720"/>
            <a:ext cx="1508760" cy="18288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5E6C84"/>
                </a:solidFill>
                <a:latin typeface="Aptos"/>
              </a:rPr>
              <a:t>train stage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6327" y="2048256"/>
            <a:ext cx="41148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5E6C84"/>
                </a:solidFill>
                <a:latin typeface="Aptos"/>
              </a:rP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91271" y="1874519"/>
            <a:ext cx="1508760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1271" y="2029968"/>
            <a:ext cx="150876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300" b="1">
                <a:solidFill>
                  <a:srgbClr val="148479"/>
                </a:solidFill>
                <a:latin typeface="Aptos"/>
              </a:rPr>
              <a:t>D4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1" y="2331720"/>
            <a:ext cx="1508760" cy="18288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5E6C84"/>
                </a:solidFill>
                <a:latin typeface="Aptos"/>
              </a:rPr>
              <a:t>train stage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2962656"/>
            <a:ext cx="8869680" cy="32918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2100" b="1">
                <a:solidFill>
                  <a:srgbClr val="1D2735"/>
                </a:solidFill>
                <a:latin typeface="Aptos"/>
              </a:rPr>
              <a:t>After each stage: score D1-D4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" y="3858768"/>
            <a:ext cx="507492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4096512"/>
            <a:ext cx="155448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900" b="1">
                <a:solidFill>
                  <a:srgbClr val="B94846"/>
                </a:solidFill>
                <a:latin typeface="Aptos"/>
              </a:rPr>
              <a:t>Condition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14800"/>
            <a:ext cx="2788920" cy="24688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600" b="0">
                <a:solidFill>
                  <a:srgbClr val="1D2735"/>
                </a:solidFill>
                <a:latin typeface="Aptos"/>
              </a:rPr>
              <a:t>Stripped-context next-API-call baseline.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27648" y="3858768"/>
            <a:ext cx="5074920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1968" y="4096512"/>
            <a:ext cx="1645920" cy="25603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900" b="1">
                <a:solidFill>
                  <a:srgbClr val="148479"/>
                </a:solidFill>
                <a:latin typeface="Aptos"/>
              </a:rPr>
              <a:t>Condition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4464" y="4114800"/>
            <a:ext cx="2697480" cy="24688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600" b="0">
                <a:solidFill>
                  <a:srgbClr val="1D2735"/>
                </a:solidFill>
                <a:latin typeface="Aptos"/>
              </a:rPr>
              <a:t>Trajectory-context next-API-call format.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6437376"/>
            <a:ext cx="292608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E6C84"/>
                </a:solidFill>
                <a:latin typeface="Aptos"/>
              </a:rPr>
              <a:t>CS 590NN Final Project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37376"/>
            <a:ext cx="32004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r"/>
            <a:r>
              <a:rPr sz="800" b="0">
                <a:solidFill>
                  <a:srgbClr val="5E6C84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9875520" cy="53035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D2735"/>
                </a:solidFill>
                <a:latin typeface="Aptos"/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50392"/>
            <a:ext cx="9692640" cy="31089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E6C84"/>
                </a:solidFill>
                <a:latin typeface="Aptos"/>
              </a:rPr>
              <a:t>Same base model and scoring pipeline; B sees more prompt tokens.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152144"/>
            <a:ext cx="10972800" cy="18288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86384" y="1481328"/>
          <a:ext cx="548639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611880"/>
              </a:tblGrid>
              <a:tr h="48332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Component</a:t>
                      </a:r>
                    </a:p>
                  </a:txBody>
                  <a:tcPr marL="45720" marR="45720" marT="27432" marB="27432">
                    <a:solidFill>
                      <a:srgbClr val="1D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Value</a:t>
                      </a:r>
                    </a:p>
                  </a:txBody>
                  <a:tcPr marL="45720" marR="45720" marT="27432" marB="27432">
                    <a:solidFill>
                      <a:srgbClr val="1D2735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Model</a:t>
                      </a:r>
                    </a:p>
                  </a:txBody>
                  <a:tcPr marL="45720" marR="45720" marT="27432" marB="27432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Llama 3.1 8B Instruct</a:t>
                      </a:r>
                    </a:p>
                  </a:txBody>
                  <a:tcPr marL="45720" marR="45720" marT="27432" marB="27432">
                    <a:solidFill>
                      <a:srgbClr val="F6F8FA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Fine-tuning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QLoRA, rank 32, alpha 64, 4-bit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Data stream</a:t>
                      </a:r>
                    </a:p>
                  </a:txBody>
                  <a:tcPr marL="45720" marR="45720" marT="27432" marB="27432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API-Bank split into D1-D4</a:t>
                      </a:r>
                    </a:p>
                  </a:txBody>
                  <a:tcPr marL="45720" marR="45720" marT="27432" marB="27432">
                    <a:solidFill>
                      <a:srgbClr val="F6F8FA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Seed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42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Full eval examples</a:t>
                      </a:r>
                    </a:p>
                  </a:txBody>
                  <a:tcPr marL="45720" marR="45720" marT="27432" marB="27432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126, 104, 103, 107</a:t>
                      </a:r>
                    </a:p>
                  </a:txBody>
                  <a:tcPr marL="45720" marR="45720" marT="27432" marB="27432">
                    <a:solidFill>
                      <a:srgbClr val="F6F8FA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Train tokens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A 1.86M, B 2.32M (+25.1%)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839712" y="1719072"/>
            <a:ext cx="4041648" cy="250545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608" y="1975104"/>
            <a:ext cx="3383280" cy="31089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D2735"/>
                </a:solidFill>
                <a:latin typeface="Aptos"/>
              </a:rPr>
              <a:t>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184" y="2523744"/>
            <a:ext cx="3246120" cy="1225296"/>
          </a:xfrm>
          <a:prstGeom prst="rect">
            <a:avLst/>
          </a:prstGeom>
          <a:noFill/>
        </p:spPr>
        <p:txBody>
          <a:bodyPr wrap="none" lIns="73152" rIns="73152" tIns="27432" bIns="27432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D2735"/>
                </a:solidFill>
                <a:latin typeface="Aptos"/>
              </a:defRPr>
            </a:pPr>
            <a:r>
              <a:t>API-name accuracy</a:t>
            </a:r>
          </a:p>
          <a:p>
            <a:pPr>
              <a:spcAft>
                <a:spcPts val="1000"/>
              </a:spcAft>
              <a:defRPr sz="1700">
                <a:solidFill>
                  <a:srgbClr val="1D2735"/>
                </a:solidFill>
                <a:latin typeface="Aptos"/>
              </a:defRPr>
            </a:pPr>
            <a:r>
              <a:t>Exact full-call accuracy</a:t>
            </a:r>
          </a:p>
          <a:p>
            <a:pPr>
              <a:spcAft>
                <a:spcPts val="1000"/>
              </a:spcAft>
              <a:defRPr sz="1700">
                <a:solidFill>
                  <a:srgbClr val="1D2735"/>
                </a:solidFill>
                <a:latin typeface="Aptos"/>
              </a:defRPr>
            </a:pPr>
            <a:r>
              <a:t>Error buckets for wrong API, wrong args, and malformed outputs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6437376"/>
            <a:ext cx="292608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E6C84"/>
                </a:solidFill>
                <a:latin typeface="Aptos"/>
              </a:rPr>
              <a:t>CS 590NN Final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32004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r"/>
            <a:r>
              <a:rPr sz="800" b="0">
                <a:solidFill>
                  <a:srgbClr val="5E6C84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9875520" cy="53035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D2735"/>
                </a:solidFill>
                <a:latin typeface="Aptos"/>
              </a:rPr>
              <a:t>Main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50392"/>
            <a:ext cx="9692640" cy="31089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E6C84"/>
                </a:solidFill>
                <a:latin typeface="Aptos"/>
              </a:rPr>
              <a:t>Trajectory context improves final exact full-call accuracy on every block.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152144"/>
            <a:ext cx="10972800" cy="18288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17320"/>
            <a:ext cx="2148840" cy="6583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3600" b="1">
                <a:solidFill>
                  <a:srgbClr val="B94846"/>
                </a:solidFill>
                <a:latin typeface="Aptos"/>
              </a:rPr>
              <a:t>39.2%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084832"/>
            <a:ext cx="2148840" cy="38404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5E6C84"/>
                </a:solidFill>
                <a:latin typeface="Aptos"/>
              </a:rPr>
              <a:t>A mean exact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61488" y="1417320"/>
            <a:ext cx="2148840" cy="6583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3600" b="1">
                <a:solidFill>
                  <a:srgbClr val="148479"/>
                </a:solidFill>
                <a:latin typeface="Aptos"/>
              </a:rPr>
              <a:t>56.9%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1488" y="2084832"/>
            <a:ext cx="2148840" cy="38404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5E6C84"/>
                </a:solidFill>
                <a:latin typeface="Aptos"/>
              </a:rPr>
              <a:t>B mean exact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1417320"/>
            <a:ext cx="2148840" cy="6583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3600" b="1">
                <a:solidFill>
                  <a:srgbClr val="B78021"/>
                </a:solidFill>
                <a:latin typeface="Aptos"/>
              </a:rPr>
              <a:t>+17.7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084832"/>
            <a:ext cx="2148840" cy="38404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5E6C84"/>
                </a:solidFill>
                <a:latin typeface="Aptos"/>
              </a:rPr>
              <a:t>point gap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914400" y="2779776"/>
          <a:ext cx="6400800" cy="2788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863840" y="2834640"/>
            <a:ext cx="320040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3090672"/>
            <a:ext cx="2606040" cy="29260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000" b="1">
                <a:solidFill>
                  <a:srgbClr val="1D2735"/>
                </a:solidFill>
                <a:latin typeface="Aptos"/>
              </a:rPr>
              <a:t>Interpretation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3566160"/>
            <a:ext cx="2578608" cy="969264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600" b="0">
                <a:solidFill>
                  <a:srgbClr val="1D2735"/>
                </a:solidFill>
                <a:latin typeface="Aptos"/>
              </a:rPr>
              <a:t>B keeps more context, but token budget is not controlled.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6437376"/>
            <a:ext cx="292608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E6C84"/>
                </a:solidFill>
                <a:latin typeface="Aptos"/>
              </a:rPr>
              <a:t>CS 590NN Final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37376"/>
            <a:ext cx="32004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r"/>
            <a:r>
              <a:rPr sz="800" b="0">
                <a:solidFill>
                  <a:srgbClr val="5E6C84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9875520" cy="53035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D2735"/>
                </a:solidFill>
                <a:latin typeface="Aptos"/>
              </a:rPr>
              <a:t>Continual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50392"/>
            <a:ext cx="9692640" cy="31089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E6C84"/>
                </a:solidFill>
                <a:latin typeface="Aptos"/>
              </a:rPr>
              <a:t>Accuracy is measured after each training block, not only at the end.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152144"/>
            <a:ext cx="10972800" cy="18288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ull_eval_exact_full_heatmaps_seed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70803"/>
            <a:ext cx="7178040" cy="372787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156448" y="1572768"/>
            <a:ext cx="3127248" cy="36210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49056" y="1865376"/>
            <a:ext cx="2560320" cy="30175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000" b="1">
                <a:solidFill>
                  <a:srgbClr val="1D2735"/>
                </a:solidFill>
                <a:latin typeface="Aptos"/>
              </a:rPr>
              <a:t>What to notice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30768" y="2432304"/>
            <a:ext cx="2487168" cy="1572768"/>
          </a:xfrm>
          <a:prstGeom prst="rect">
            <a:avLst/>
          </a:prstGeom>
          <a:noFill/>
        </p:spPr>
        <p:txBody>
          <a:bodyPr wrap="none" lIns="73152" rIns="73152" tIns="27432" bIns="27432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D2735"/>
                </a:solidFill>
                <a:latin typeface="Aptos"/>
              </a:defRPr>
            </a:pPr>
            <a:r>
              <a:t>The comparison uses a full held-out evaluation at each stage.</a:t>
            </a:r>
          </a:p>
          <a:p>
            <a:pPr>
              <a:spcAft>
                <a:spcPts val="1000"/>
              </a:spcAft>
              <a:defRPr sz="1600">
                <a:solidFill>
                  <a:srgbClr val="1D2735"/>
                </a:solidFill>
                <a:latin typeface="Aptos"/>
              </a:defRPr>
            </a:pPr>
            <a:r>
              <a:t>B's advantage is visible across multiple trained/evaluated block pairs.</a:t>
            </a:r>
          </a:p>
          <a:p>
            <a:pPr>
              <a:spcAft>
                <a:spcPts val="1000"/>
              </a:spcAft>
              <a:defRPr sz="1600">
                <a:solidFill>
                  <a:srgbClr val="1D2735"/>
                </a:solidFill>
                <a:latin typeface="Aptos"/>
              </a:defRPr>
            </a:pPr>
            <a:r>
              <a:t>One seed, so treat as preliminary.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6437376"/>
            <a:ext cx="292608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E6C84"/>
                </a:solidFill>
                <a:latin typeface="Aptos"/>
              </a:rPr>
              <a:t>CS 590NN Final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32004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r"/>
            <a:r>
              <a:rPr sz="800" b="0">
                <a:solidFill>
                  <a:srgbClr val="5E6C84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9875520" cy="53035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D2735"/>
                </a:solidFill>
                <a:latin typeface="Aptos"/>
              </a:rPr>
              <a:t>Failure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50392"/>
            <a:ext cx="9692640" cy="31089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E6C84"/>
                </a:solidFill>
                <a:latin typeface="Aptos"/>
              </a:rPr>
              <a:t>Trajectory context changes the error mix.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152144"/>
            <a:ext cx="10972800" cy="18288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04672" y="1481328"/>
          <a:ext cx="608076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914400"/>
                <a:gridCol w="914400"/>
                <a:gridCol w="1783080"/>
              </a:tblGrid>
              <a:tr h="57058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Metric</a:t>
                      </a:r>
                    </a:p>
                  </a:txBody>
                  <a:tcPr marL="45720" marR="45720" marT="27432" marB="27432">
                    <a:solidFill>
                      <a:srgbClr val="1D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</a:t>
                      </a:r>
                    </a:p>
                  </a:txBody>
                  <a:tcPr marL="45720" marR="45720" marT="27432" marB="27432">
                    <a:solidFill>
                      <a:srgbClr val="1D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</a:t>
                      </a:r>
                    </a:p>
                  </a:txBody>
                  <a:tcPr marL="45720" marR="45720" marT="27432" marB="27432">
                    <a:solidFill>
                      <a:srgbClr val="1D27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Direction</a:t>
                      </a:r>
                    </a:p>
                  </a:txBody>
                  <a:tcPr marL="45720" marR="45720" marT="27432" marB="27432">
                    <a:solidFill>
                      <a:srgbClr val="1D2735"/>
                    </a:solidFill>
                  </a:tcPr>
                </a:tc>
              </a:tr>
              <a:tr h="570585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Exact full call</a:t>
                      </a:r>
                    </a:p>
                  </a:txBody>
                  <a:tcPr marL="45720" marR="45720" marT="27432" marB="27432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172</a:t>
                      </a:r>
                    </a:p>
                  </a:txBody>
                  <a:tcPr marL="45720" marR="45720" marT="27432" marB="27432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251</a:t>
                      </a:r>
                    </a:p>
                  </a:txBody>
                  <a:tcPr marL="45720" marR="45720" marT="27432" marB="27432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B higher</a:t>
                      </a:r>
                    </a:p>
                  </a:txBody>
                  <a:tcPr marL="45720" marR="45720" marT="27432" marB="27432">
                    <a:solidFill>
                      <a:srgbClr val="F6F8FA"/>
                    </a:solidFill>
                  </a:tcPr>
                </a:tc>
              </a:tr>
              <a:tr h="570585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Wrong API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102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12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B much lower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70585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Wrong / partial params</a:t>
                      </a:r>
                    </a:p>
                  </a:txBody>
                  <a:tcPr marL="45720" marR="45720" marT="27432" marB="27432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121</a:t>
                      </a:r>
                    </a:p>
                  </a:txBody>
                  <a:tcPr marL="45720" marR="45720" marT="27432" marB="27432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76</a:t>
                      </a:r>
                    </a:p>
                  </a:txBody>
                  <a:tcPr marL="45720" marR="45720" marT="27432" marB="27432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B lower</a:t>
                      </a:r>
                    </a:p>
                  </a:txBody>
                  <a:tcPr marL="45720" marR="45720" marT="27432" marB="27432">
                    <a:solidFill>
                      <a:srgbClr val="F6F8FA"/>
                    </a:solidFill>
                  </a:tcPr>
                </a:tc>
              </a:tr>
              <a:tr h="57058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Malformed / no call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45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101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D2735"/>
                          </a:solidFill>
                          <a:latin typeface="Aptos"/>
                        </a:defRPr>
                      </a:pPr>
                      <a:r>
                        <a:t>B higher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88352" y="1572768"/>
            <a:ext cx="3703320" cy="2761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99248" y="1874519"/>
            <a:ext cx="3072384" cy="31089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100" b="1">
                <a:solidFill>
                  <a:srgbClr val="1D2735"/>
                </a:solidFill>
                <a:latin typeface="Aptos"/>
              </a:rPr>
              <a:t>Takeaway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9248" y="2487168"/>
            <a:ext cx="2944368" cy="107899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800" b="0">
                <a:solidFill>
                  <a:srgbClr val="1D2735"/>
                </a:solidFill>
                <a:latin typeface="Aptos"/>
              </a:rPr>
              <a:t>B is much better at choosing the right API, but longer context causes more formatting errors.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6437376"/>
            <a:ext cx="292608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E6C84"/>
                </a:solidFill>
                <a:latin typeface="Aptos"/>
              </a:rPr>
              <a:t>CS 590NN Final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32004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r"/>
            <a:r>
              <a:rPr sz="800" b="0">
                <a:solidFill>
                  <a:srgbClr val="5E6C84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9875520" cy="53035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900" b="1">
                <a:solidFill>
                  <a:srgbClr val="1D2735"/>
                </a:solidFill>
                <a:latin typeface="Aptos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50392"/>
            <a:ext cx="9692640" cy="31089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E6C84"/>
                </a:solidFill>
                <a:latin typeface="Aptos"/>
              </a:rPr>
              <a:t>Current evidence is a single-seed pilot.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1152144"/>
            <a:ext cx="10972800" cy="18288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4672" y="1481328"/>
            <a:ext cx="3337560" cy="35478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792224"/>
            <a:ext cx="2706624" cy="31089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48479"/>
                </a:solidFill>
                <a:latin typeface="Aptos"/>
              </a:rPr>
              <a:t>What we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59152"/>
            <a:ext cx="2560320" cy="1298448"/>
          </a:xfrm>
          <a:prstGeom prst="rect">
            <a:avLst/>
          </a:prstGeom>
          <a:noFill/>
        </p:spPr>
        <p:txBody>
          <a:bodyPr wrap="none" lIns="73152" rIns="73152" tIns="27432" bIns="27432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D2735"/>
                </a:solidFill>
                <a:latin typeface="Aptos"/>
              </a:defRPr>
            </a:pPr>
            <a:r>
              <a:t>A controlled process-proxy comparison for continual API-call learning.</a:t>
            </a:r>
          </a:p>
          <a:p>
            <a:pPr>
              <a:spcAft>
                <a:spcPts val="1000"/>
              </a:spcAft>
              <a:defRPr sz="1700">
                <a:solidFill>
                  <a:srgbClr val="1D2735"/>
                </a:solidFill>
                <a:latin typeface="Aptos"/>
              </a:defRPr>
            </a:pPr>
            <a:r>
              <a:t>Full matrix evaluation across a sequential tool-use stream.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481328"/>
            <a:ext cx="3337560" cy="35478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18304" y="1792224"/>
            <a:ext cx="2706624" cy="31089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200" b="1">
                <a:solidFill>
                  <a:srgbClr val="B94846"/>
                </a:solidFill>
                <a:latin typeface="Aptos"/>
              </a:rPr>
              <a:t>Limits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18304" y="2359152"/>
            <a:ext cx="2560320" cy="1298448"/>
          </a:xfrm>
          <a:prstGeom prst="rect">
            <a:avLst/>
          </a:prstGeom>
          <a:noFill/>
        </p:spPr>
        <p:txBody>
          <a:bodyPr wrap="none" lIns="73152" rIns="73152" tIns="27432" bIns="27432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D2735"/>
                </a:solidFill>
                <a:latin typeface="Aptos"/>
              </a:defRPr>
            </a:pPr>
            <a:r>
              <a:t>Single seed.</a:t>
            </a:r>
          </a:p>
          <a:p>
            <a:pPr>
              <a:spcAft>
                <a:spcPts val="1000"/>
              </a:spcAft>
              <a:defRPr sz="1700">
                <a:solidFill>
                  <a:srgbClr val="1D2735"/>
                </a:solidFill>
                <a:latin typeface="Aptos"/>
              </a:defRPr>
            </a:pPr>
            <a:r>
              <a:t>B has more tokens.</a:t>
            </a:r>
          </a:p>
          <a:p>
            <a:pPr>
              <a:spcAft>
                <a:spcPts val="1000"/>
              </a:spcAft>
              <a:defRPr sz="1700">
                <a:solidFill>
                  <a:srgbClr val="1D2735"/>
                </a:solidFill>
                <a:latin typeface="Aptos"/>
              </a:defRPr>
            </a:pPr>
            <a:r>
              <a:t>Synthetic benchmark and next-call framing.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81328"/>
            <a:ext cx="3337560" cy="35478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9327" y="1792224"/>
            <a:ext cx="2706624" cy="31089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2200" b="1">
                <a:solidFill>
                  <a:srgbClr val="B78021"/>
                </a:solidFill>
                <a:latin typeface="Aptos"/>
              </a:rPr>
              <a:t>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359152"/>
            <a:ext cx="2560320" cy="1298448"/>
          </a:xfrm>
          <a:prstGeom prst="rect">
            <a:avLst/>
          </a:prstGeom>
          <a:noFill/>
        </p:spPr>
        <p:txBody>
          <a:bodyPr wrap="none" lIns="73152" rIns="73152" tIns="27432" bIns="27432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D2735"/>
                </a:solidFill>
                <a:latin typeface="Aptos"/>
              </a:defRPr>
            </a:pPr>
            <a:r>
              <a:t>Run multiple seeds.</a:t>
            </a:r>
          </a:p>
          <a:p>
            <a:pPr>
              <a:spcAft>
                <a:spcPts val="1000"/>
              </a:spcAft>
              <a:defRPr sz="1700">
                <a:solidFill>
                  <a:srgbClr val="1D2735"/>
                </a:solidFill>
                <a:latin typeface="Aptos"/>
              </a:defRPr>
            </a:pPr>
            <a:r>
              <a:t>Token-match the conditions.</a:t>
            </a:r>
          </a:p>
          <a:p>
            <a:pPr>
              <a:spcAft>
                <a:spcPts val="1000"/>
              </a:spcAft>
              <a:defRPr sz="1700">
                <a:solidFill>
                  <a:srgbClr val="1D2735"/>
                </a:solidFill>
                <a:latin typeface="Aptos"/>
              </a:defRPr>
            </a:pPr>
            <a:r>
              <a:t>Add semantic argument scoring.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5559552"/>
            <a:ext cx="9921240" cy="40233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1900" b="1">
                <a:solidFill>
                  <a:srgbClr val="1D2735"/>
                </a:solidFill>
                <a:latin typeface="Aptos"/>
              </a:rPr>
              <a:t>Keeping observable trajectory context improves tool identity and final exact-call accuracy in this setup.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6437376"/>
            <a:ext cx="292608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E6C84"/>
                </a:solidFill>
                <a:latin typeface="Aptos"/>
              </a:rPr>
              <a:t>CS 590NN Final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37376"/>
            <a:ext cx="32004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r"/>
            <a:r>
              <a:rPr sz="800" b="0">
                <a:solidFill>
                  <a:srgbClr val="5E6C84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