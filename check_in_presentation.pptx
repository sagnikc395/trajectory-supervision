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1pPr>
    <a:lvl2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2pPr>
    <a:lvl3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3pPr>
    <a:lvl4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4pPr>
    <a:lvl5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5pPr>
    <a:lvl6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6pPr>
    <a:lvl7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7pPr>
    <a:lvl8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8pPr>
    <a:lvl9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FFF"/>
          </a:solidFill>
        </a:fill>
      </a:tcStyle>
    </a:wholeTbl>
    <a:band2H>
      <a:tcTxStyle b="def" i="def"/>
      <a:tcStyle>
        <a:tcBdr/>
        <a:fill>
          <a:solidFill>
            <a:srgbClr val="E6F0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F0CC"/>
          </a:solidFill>
        </a:fill>
      </a:tcStyle>
    </a:wholeTbl>
    <a:band2H>
      <a:tcTxStyle b="def" i="def"/>
      <a:tcStyle>
        <a:tcBdr/>
        <a:fill>
          <a:solidFill>
            <a:srgbClr val="EAF8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CDDF"/>
          </a:solidFill>
        </a:fill>
      </a:tcStyle>
    </a:wholeTbl>
    <a:band2H>
      <a:tcTxStyle b="def" i="def"/>
      <a:tcStyle>
        <a:tcBdr/>
        <a:fill>
          <a:solidFill>
            <a:srgbClr val="FFE8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1pPr>
    <a:lvl2pPr indent="2286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2pPr>
    <a:lvl3pPr indent="4572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3pPr>
    <a:lvl4pPr indent="6858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4pPr>
    <a:lvl5pPr indent="9144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5pPr>
    <a:lvl6pPr indent="11430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6pPr>
    <a:lvl7pPr indent="13716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7pPr>
    <a:lvl8pPr indent="16002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8pPr>
    <a:lvl9pPr indent="18288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ody Level One…"/>
          <p:cNvSpPr txBox="1"/>
          <p:nvPr>
            <p:ph type="body" sz="quarter" idx="1" hasCustomPrompt="1"/>
          </p:nvPr>
        </p:nvSpPr>
        <p:spPr>
          <a:xfrm>
            <a:off x="1201340" y="11859862"/>
            <a:ext cx="21971004" cy="636980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  <a:lvl2pPr marL="1066800" indent="-457200" defTabSz="825500">
              <a:lnSpc>
                <a:spcPct val="100000"/>
              </a:lnSpc>
              <a:spcBef>
                <a:spcPts val="0"/>
              </a:spcBef>
              <a:defRPr b="1" sz="3600"/>
            </a:lvl2pPr>
            <a:lvl3pPr marL="1676400" indent="-457200" defTabSz="825500">
              <a:lnSpc>
                <a:spcPct val="100000"/>
              </a:lnSpc>
              <a:spcBef>
                <a:spcPts val="0"/>
              </a:spcBef>
              <a:defRPr b="1" sz="3600"/>
            </a:lvl3pPr>
            <a:lvl4pPr marL="2286000" indent="-457200" defTabSz="825500">
              <a:lnSpc>
                <a:spcPct val="100000"/>
              </a:lnSpc>
              <a:spcBef>
                <a:spcPts val="0"/>
              </a:spcBef>
              <a:defRPr b="1" sz="3600"/>
            </a:lvl4pPr>
            <a:lvl5pPr marL="2895600" indent="-457200" defTabSz="825500">
              <a:lnSpc>
                <a:spcPct val="100000"/>
              </a:lnSpc>
              <a:spcBef>
                <a:spcPts val="0"/>
              </a:spcBef>
              <a:defRPr b="1" sz="3600"/>
            </a:lvl5pPr>
          </a:lstStyle>
          <a:p>
            <a:pPr/>
            <a:r>
              <a:t>Author and Date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5" cy="4648202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21" hasCustomPrompt="1"/>
          </p:nvPr>
        </p:nvSpPr>
        <p:spPr>
          <a:xfrm>
            <a:off x="1201342" y="7223190"/>
            <a:ext cx="21971002" cy="1905002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Presentation Subtitle</a:t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Body Level One…"/>
          <p:cNvSpPr txBox="1"/>
          <p:nvPr>
            <p:ph type="body" sz="quarter" idx="1" hasCustomPrompt="1"/>
          </p:nvPr>
        </p:nvSpPr>
        <p:spPr>
          <a:xfrm>
            <a:off x="1207690" y="1106137"/>
            <a:ext cx="21968621" cy="636980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  <a:lvl2pPr marL="1066800" indent="-457200" defTabSz="825500">
              <a:lnSpc>
                <a:spcPct val="100000"/>
              </a:lnSpc>
              <a:spcBef>
                <a:spcPts val="0"/>
              </a:spcBef>
              <a:defRPr b="1" sz="3600"/>
            </a:lvl2pPr>
            <a:lvl3pPr marL="1676400" indent="-457200" defTabSz="825500">
              <a:lnSpc>
                <a:spcPct val="100000"/>
              </a:lnSpc>
              <a:spcBef>
                <a:spcPts val="0"/>
              </a:spcBef>
              <a:defRPr b="1" sz="3600"/>
            </a:lvl3pPr>
            <a:lvl4pPr marL="2286000" indent="-457200" defTabSz="825500">
              <a:lnSpc>
                <a:spcPct val="100000"/>
              </a:lnSpc>
              <a:spcBef>
                <a:spcPts val="0"/>
              </a:spcBef>
              <a:defRPr b="1" sz="3600"/>
            </a:lvl4pPr>
            <a:lvl5pPr marL="2895600" indent="-457200" defTabSz="825500">
              <a:lnSpc>
                <a:spcPct val="100000"/>
              </a:lnSpc>
              <a:spcBef>
                <a:spcPts val="0"/>
              </a:spcBef>
              <a:defRPr b="1" sz="3600"/>
            </a:lvl5pPr>
          </a:lstStyle>
          <a:p>
            <a:pPr/>
            <a:r>
              <a:t>Author and Date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Body Level One…"/>
          <p:cNvSpPr txBox="1"/>
          <p:nvPr>
            <p:ph type="body" sz="quarter" idx="22" hasCustomPrompt="1"/>
          </p:nvPr>
        </p:nvSpPr>
        <p:spPr>
          <a:xfrm>
            <a:off x="1206500" y="11609909"/>
            <a:ext cx="21971000" cy="1116953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Presentation Subtitle</a:t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, and humm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4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500" y="13085233"/>
            <a:ext cx="368504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Body Level One…"/>
          <p:cNvSpPr txBox="1"/>
          <p:nvPr>
            <p:ph type="body" sz="quarter" idx="1" hasCustomPrompt="1"/>
          </p:nvPr>
        </p:nvSpPr>
        <p:spPr>
          <a:xfrm>
            <a:off x="1206500" y="2372961"/>
            <a:ext cx="21971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4" name="Body Level One…"/>
          <p:cNvSpPr txBox="1"/>
          <p:nvPr>
            <p:ph type="body" idx="21" hasCustomPrompt="1"/>
          </p:nvPr>
        </p:nvSpPr>
        <p:spPr>
          <a:xfrm>
            <a:off x="1206500" y="4248503"/>
            <a:ext cx="21971000" cy="8256014"/>
          </a:xfrm>
          <a:prstGeom prst="rect">
            <a:avLst/>
          </a:prstGeom>
        </p:spPr>
        <p:txBody>
          <a:bodyPr numCol="1" spcCol="38100"/>
          <a:lstStyle/>
          <a:p>
            <a:pPr/>
            <a:r>
              <a:t>Slide bullet text</a:t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Body Level One…"/>
          <p:cNvSpPr txBox="1"/>
          <p:nvPr>
            <p:ph type="body" sz="quarter" idx="1" hasCustomPrompt="1"/>
          </p:nvPr>
        </p:nvSpPr>
        <p:spPr>
          <a:xfrm>
            <a:off x="1206500" y="2372961"/>
            <a:ext cx="9779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1" name="Body Level One…"/>
          <p:cNvSpPr txBox="1"/>
          <p:nvPr>
            <p:ph type="body" sz="half" idx="21" hasCustomPrompt="1"/>
          </p:nvPr>
        </p:nvSpPr>
        <p:spPr>
          <a:xfrm>
            <a:off x="1206500" y="4248503"/>
            <a:ext cx="9779000" cy="8256631"/>
          </a:xfrm>
          <a:prstGeom prst="rect">
            <a:avLst/>
          </a:prstGeom>
        </p:spPr>
        <p:txBody>
          <a:bodyPr numCol="1" spcCol="38100"/>
          <a:lstStyle/>
          <a:p>
            <a:pPr/>
            <a:r>
              <a:t>Slide bullet text</a:t>
            </a:r>
          </a:p>
        </p:txBody>
      </p:sp>
      <p:sp>
        <p:nvSpPr>
          <p:cNvPr id="62" name="Bowl of pappardelle pasta with parsley butter, roasted hazelnuts, and shaved parmesan cheese"/>
          <p:cNvSpPr/>
          <p:nvPr>
            <p:ph type="pic" idx="22"/>
          </p:nvPr>
        </p:nvSpPr>
        <p:spPr>
          <a:xfrm>
            <a:off x="12192000" y="-407266"/>
            <a:ext cx="10916874" cy="14555833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Body Level One…"/>
          <p:cNvSpPr txBox="1"/>
          <p:nvPr>
            <p:ph type="body" sz="quarter" idx="1" hasCustomPrompt="1"/>
          </p:nvPr>
        </p:nvSpPr>
        <p:spPr>
          <a:xfrm>
            <a:off x="1206500" y="2372961"/>
            <a:ext cx="9779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2" name="Body Level One…"/>
          <p:cNvSpPr txBox="1"/>
          <p:nvPr>
            <p:ph type="body" sz="half" idx="21" hasCustomPrompt="1"/>
          </p:nvPr>
        </p:nvSpPr>
        <p:spPr>
          <a:xfrm>
            <a:off x="1206500" y="4248503"/>
            <a:ext cx="9779000" cy="8256631"/>
          </a:xfrm>
          <a:prstGeom prst="rect">
            <a:avLst/>
          </a:prstGeom>
        </p:spPr>
        <p:txBody>
          <a:bodyPr numCol="1" spcCol="38100"/>
          <a:lstStyle/>
          <a:p>
            <a:pPr/>
            <a:r>
              <a:t>Slide bullet text</a:t>
            </a:r>
          </a:p>
        </p:txBody>
      </p:sp>
      <p:sp>
        <p:nvSpPr>
          <p:cNvPr id="7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Body Level One…"/>
          <p:cNvSpPr txBox="1"/>
          <p:nvPr>
            <p:ph type="body" sz="quarter" idx="1" hasCustomPrompt="1"/>
          </p:nvPr>
        </p:nvSpPr>
        <p:spPr>
          <a:xfrm>
            <a:off x="1206500" y="2372961"/>
            <a:ext cx="9779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2" name="Body Level One…"/>
          <p:cNvSpPr txBox="1"/>
          <p:nvPr>
            <p:ph type="body" sz="half" idx="21" hasCustomPrompt="1"/>
          </p:nvPr>
        </p:nvSpPr>
        <p:spPr>
          <a:xfrm>
            <a:off x="1206500" y="4248503"/>
            <a:ext cx="9779000" cy="8256631"/>
          </a:xfrm>
          <a:prstGeom prst="rect">
            <a:avLst/>
          </a:prstGeom>
        </p:spPr>
        <p:txBody>
          <a:bodyPr numCol="1" spcCol="38100"/>
          <a:lstStyle/>
          <a:p>
            <a:pPr/>
            <a:r>
              <a:t>Slide bullet text</a:t>
            </a:r>
          </a:p>
        </p:txBody>
      </p:sp>
      <p:sp>
        <p:nvSpPr>
          <p:cNvPr id="8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5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001500" y="13085233"/>
            <a:ext cx="368504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5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Body Level One…"/>
          <p:cNvSpPr txBox="1"/>
          <p:nvPr>
            <p:ph type="body" sz="quarter" idx="1" hasCustomPrompt="1"/>
          </p:nvPr>
        </p:nvSpPr>
        <p:spPr>
          <a:xfrm>
            <a:off x="1206500" y="2372961"/>
            <a:ext cx="21971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Body Level One…"/>
          <p:cNvSpPr txBox="1"/>
          <p:nvPr>
            <p:ph type="body" sz="quarter" idx="1" hasCustomPrompt="1"/>
          </p:nvPr>
        </p:nvSpPr>
        <p:spPr>
          <a:xfrm>
            <a:off x="1206500" y="2372961"/>
            <a:ext cx="21971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Agenda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0" name="Body Level One…"/>
          <p:cNvSpPr txBox="1"/>
          <p:nvPr>
            <p:ph type="body" idx="21" hasCustomPrompt="1"/>
          </p:nvPr>
        </p:nvSpPr>
        <p:spPr>
          <a:xfrm>
            <a:off x="1206500" y="4248503"/>
            <a:ext cx="21971000" cy="8256014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99" sz="5500"/>
            </a:lvl1pPr>
          </a:lstStyle>
          <a:p>
            <a:pPr/>
            <a:r>
              <a:t>Agenda Topics</a:t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numCol="1" spcCol="38100"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075926"/>
            <a:ext cx="21971000" cy="7241586"/>
          </a:xfrm>
          <a:prstGeom prst="rect">
            <a:avLst/>
          </a:prstGeom>
        </p:spPr>
        <p:txBody>
          <a:bodyPr numCol="1" spcCol="38100"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Body Level One…"/>
          <p:cNvSpPr txBox="1"/>
          <p:nvPr>
            <p:ph type="body" sz="quarter" idx="1" hasCustomPrompt="1"/>
          </p:nvPr>
        </p:nvSpPr>
        <p:spPr>
          <a:xfrm>
            <a:off x="2430024" y="10675453"/>
            <a:ext cx="20200054" cy="636980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  <a:lvl2pPr marL="1066800" indent="-457200" defTabSz="825500">
              <a:lnSpc>
                <a:spcPct val="100000"/>
              </a:lnSpc>
              <a:spcBef>
                <a:spcPts val="0"/>
              </a:spcBef>
              <a:defRPr b="1" sz="3600"/>
            </a:lvl2pPr>
            <a:lvl3pPr marL="1676400" indent="-457200" defTabSz="825500">
              <a:lnSpc>
                <a:spcPct val="100000"/>
              </a:lnSpc>
              <a:spcBef>
                <a:spcPts val="0"/>
              </a:spcBef>
              <a:defRPr b="1" sz="3600"/>
            </a:lvl3pPr>
            <a:lvl4pPr marL="2286000" indent="-457200" defTabSz="825500">
              <a:lnSpc>
                <a:spcPct val="100000"/>
              </a:lnSpc>
              <a:spcBef>
                <a:spcPts val="0"/>
              </a:spcBef>
              <a:defRPr b="1" sz="3600"/>
            </a:lvl4pPr>
            <a:lvl5pPr marL="2895600" indent="-457200" defTabSz="825500">
              <a:lnSpc>
                <a:spcPct val="100000"/>
              </a:lnSpc>
              <a:spcBef>
                <a:spcPts val="0"/>
              </a:spcBef>
              <a:defRPr b="1" sz="3600"/>
            </a:lvl5pPr>
          </a:lstStyle>
          <a:p>
            <a:pPr/>
            <a:r>
              <a:t>Attribution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6" name="Body Level One…"/>
          <p:cNvSpPr txBox="1"/>
          <p:nvPr>
            <p:ph type="body" sz="half" idx="21" hasCustomPrompt="1"/>
          </p:nvPr>
        </p:nvSpPr>
        <p:spPr>
          <a:xfrm>
            <a:off x="1753923" y="4939860"/>
            <a:ext cx="20876154" cy="3836281"/>
          </a:xfrm>
          <a:prstGeom prst="rect">
            <a:avLst/>
          </a:prstGeom>
        </p:spPr>
        <p:txBody>
          <a:bodyPr numCol="1" spcCol="38100"/>
          <a:lstStyle>
            <a:lvl1pPr marL="469900" indent="-300876">
              <a:spcBef>
                <a:spcPts val="0"/>
              </a:spcBef>
              <a:buSzTx/>
              <a:buNone/>
              <a:defRPr spc="-20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“Notable Quote”</a:t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owl of salad with fried rice, boiled eggs,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45" name="Bowl with salmon cakes, salad, and humm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46" name="Bowl of pappardelle pasta with parsley butter, roasted hazelnuts,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owl of salad with fried rice, boiled eggs,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 Level One…"/>
          <p:cNvSpPr txBox="1"/>
          <p:nvPr>
            <p:ph type="body" idx="1" hasCustomPrompt="1"/>
          </p:nvPr>
        </p:nvSpPr>
        <p:spPr>
          <a:xfrm>
            <a:off x="1206500" y="4248503"/>
            <a:ext cx="21971000" cy="82560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numCol="2" spcCol="109855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" name="Title Text"/>
          <p:cNvSpPr txBox="1"/>
          <p:nvPr>
            <p:ph type="title"/>
          </p:nvPr>
        </p:nvSpPr>
        <p:spPr>
          <a:xfrm>
            <a:off x="3653366" y="2743200"/>
            <a:ext cx="19507201" cy="1505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500" y="13080999"/>
            <a:ext cx="368504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1pPr>
      <a:lvl2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2pPr>
      <a:lvl3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3pPr>
      <a:lvl4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4pPr>
      <a:lvl5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5pPr>
      <a:lvl6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6pPr>
      <a:lvl7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7pPr>
      <a:lvl8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8pPr>
      <a:lvl9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9pPr>
    </p:titleStyle>
    <p:bodyStyle>
      <a:lvl1pPr marL="6096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1pPr>
      <a:lvl2pPr marL="12192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2pPr>
      <a:lvl3pPr marL="18288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3pPr>
      <a:lvl4pPr marL="24384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4pPr>
      <a:lvl5pPr marL="30480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5pPr>
      <a:lvl6pPr marL="36576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6pPr>
      <a:lvl7pPr marL="42672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7pPr>
      <a:lvl8pPr marL="48768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8pPr>
      <a:lvl9pPr marL="54864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ext Placeholder 1"/>
          <p:cNvSpPr txBox="1"/>
          <p:nvPr>
            <p:ph type="body" sz="quarter" idx="1"/>
          </p:nvPr>
        </p:nvSpPr>
        <p:spPr>
          <a:xfrm>
            <a:off x="1201341" y="11859862"/>
            <a:ext cx="21971002" cy="636980"/>
          </a:xfrm>
          <a:prstGeom prst="rect">
            <a:avLst/>
          </a:prstGeom>
        </p:spPr>
        <p:txBody>
          <a:bodyPr/>
          <a:lstStyle/>
          <a:p>
            <a:pPr/>
            <a:r>
              <a:t>Vishnu Vardhan Reddy  |  Sagnik Chatterjee  |  Soumik Bhatta</a:t>
            </a:r>
          </a:p>
        </p:txBody>
      </p:sp>
      <p:sp>
        <p:nvSpPr>
          <p:cNvPr id="172" name="Title 2"/>
          <p:cNvSpPr txBox="1"/>
          <p:nvPr>
            <p:ph type="title"/>
          </p:nvPr>
        </p:nvSpPr>
        <p:spPr>
          <a:xfrm>
            <a:off x="1206495" y="2574990"/>
            <a:ext cx="21971006" cy="4648203"/>
          </a:xfrm>
          <a:prstGeom prst="rect">
            <a:avLst/>
          </a:prstGeom>
        </p:spPr>
        <p:txBody>
          <a:bodyPr/>
          <a:lstStyle/>
          <a:p>
            <a:pPr defTabSz="2413954">
              <a:defRPr spc="-297" sz="11484"/>
            </a:pPr>
            <a:r>
              <a:t>Process vs Outcome Supervision</a:t>
            </a:r>
          </a:p>
          <a:p>
            <a:pPr defTabSz="2413954">
              <a:defRPr spc="-297" sz="11484"/>
            </a:pPr>
            <a:r>
              <a:t>for Continual Tool-Use Learning</a:t>
            </a:r>
          </a:p>
        </p:txBody>
      </p:sp>
      <p:sp>
        <p:nvSpPr>
          <p:cNvPr id="173" name="Text Placeholder 3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CS 590NN  —  Project Check-In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Title 1"/>
          <p:cNvSpPr txBox="1"/>
          <p:nvPr>
            <p:ph type="title"/>
          </p:nvPr>
        </p:nvSpPr>
        <p:spPr>
          <a:xfrm>
            <a:off x="1206500" y="1079499"/>
            <a:ext cx="21971000" cy="1433165"/>
          </a:xfrm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The Problem</a:t>
            </a:r>
          </a:p>
        </p:txBody>
      </p:sp>
      <p:sp>
        <p:nvSpPr>
          <p:cNvPr id="176" name="Text Placeholder 3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LLMs are trained on finished outputs (posts, code, answers)</a:t>
            </a:r>
          </a:p>
          <a:p>
            <a:pPr/>
            <a:r>
              <a:t>The reasoning process behind those outputs is never captured</a:t>
            </a:r>
          </a:p>
          <a:p>
            <a:pPr/>
            <a:r>
              <a:t>When models learn new tasks sequentially, they forget old ones</a:t>
            </a:r>
          </a:p>
          <a:p>
            <a:pPr/>
            <a:r>
              <a:t>Question: Does richer, process-level data help?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Title 1"/>
          <p:cNvSpPr txBox="1"/>
          <p:nvPr>
            <p:ph type="title"/>
          </p:nvPr>
        </p:nvSpPr>
        <p:spPr>
          <a:xfrm>
            <a:off x="1206500" y="1079499"/>
            <a:ext cx="21971000" cy="1433165"/>
          </a:xfrm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Our Approach</a:t>
            </a:r>
          </a:p>
        </p:txBody>
      </p:sp>
      <p:sp>
        <p:nvSpPr>
          <p:cNvPr id="179" name="Text Placeholder 3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marL="591312" indent="-591312" defTabSz="2365187">
              <a:spcBef>
                <a:spcPts val="4300"/>
              </a:spcBef>
              <a:defRPr sz="4656"/>
            </a:pPr>
            <a:r>
              <a:t>Tool-use interactions as a natural proxy for process data</a:t>
            </a:r>
          </a:p>
          <a:p>
            <a:pPr marL="591312" indent="-591312" defTabSz="2365187">
              <a:spcBef>
                <a:spcPts val="4300"/>
              </a:spcBef>
              <a:defRPr sz="4656"/>
            </a:pPr>
            <a:r>
              <a:t>Each interaction: user request → tool call → tool output → response</a:t>
            </a:r>
          </a:p>
          <a:p>
            <a:pPr marL="591312" indent="-591312" defTabSz="2365187">
              <a:spcBef>
                <a:spcPts val="4300"/>
              </a:spcBef>
              <a:defRPr sz="4656"/>
            </a:pPr>
          </a:p>
          <a:p>
            <a:pPr marL="591312" indent="-591312" defTabSz="2365187">
              <a:spcBef>
                <a:spcPts val="4300"/>
              </a:spcBef>
              <a:defRPr sz="4656"/>
            </a:pPr>
            <a:r>
              <a:t>Condition A (Outcome-Only): Train on final response only</a:t>
            </a:r>
          </a:p>
          <a:p>
            <a:pPr marL="591312" indent="-591312" defTabSz="2365187">
              <a:spcBef>
                <a:spcPts val="4300"/>
              </a:spcBef>
              <a:defRPr sz="4656"/>
            </a:pPr>
            <a:r>
              <a:t>Condition B (Process/Trajectory): Train on full interaction trace</a:t>
            </a:r>
          </a:p>
          <a:p>
            <a:pPr marL="591312" indent="-591312" defTabSz="2365187">
              <a:spcBef>
                <a:spcPts val="4300"/>
              </a:spcBef>
              <a:defRPr sz="4656"/>
            </a:pPr>
          </a:p>
          <a:p>
            <a:pPr marL="591312" indent="-591312" defTabSz="2365187">
              <a:spcBef>
                <a:spcPts val="4300"/>
              </a:spcBef>
              <a:defRPr sz="4656"/>
            </a:pPr>
            <a:r>
              <a:t>Continual learning: sequential domain blocks to measure adaptation &amp; forgetting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Title 1"/>
          <p:cNvSpPr txBox="1"/>
          <p:nvPr>
            <p:ph type="title"/>
          </p:nvPr>
        </p:nvSpPr>
        <p:spPr>
          <a:xfrm>
            <a:off x="1206500" y="1079499"/>
            <a:ext cx="21971000" cy="1433165"/>
          </a:xfrm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Experiment Setup</a:t>
            </a:r>
          </a:p>
        </p:txBody>
      </p:sp>
      <p:sp>
        <p:nvSpPr>
          <p:cNvPr id="182" name="Text Placeholder 3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Model: Mistral-7B-Instruct with QLoRA (4-bit quantization)</a:t>
            </a:r>
          </a:p>
          <a:p>
            <a:pPr/>
            <a:r>
              <a:t>Dataset: API-Bank — 1,888 tool-use dialogues across ~1,000 domains</a:t>
            </a:r>
          </a:p>
          <a:p>
            <a:pPr/>
            <a:r>
              <a:t>Data split into 4 sequential domain blocks (D1 → D2 → D3 → D4)</a:t>
            </a:r>
          </a:p>
          <a:p>
            <a:pPr/>
            <a:r>
              <a:t>Evaluate on ALL blocks after training each one</a:t>
            </a:r>
          </a:p>
          <a:p>
            <a:pPr/>
            <a:r>
              <a:t>Metrics: API-call accuracy, backward transfer, forward transfer, forgetting</a:t>
            </a:r>
          </a:p>
          <a:p>
            <a:pPr/>
            <a:r>
              <a:t>GPU: H100 80GB with bf16 + Flash Attention 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193014" y="1035012"/>
            <a:ext cx="19997972" cy="1195530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Title 1"/>
          <p:cNvSpPr txBox="1"/>
          <p:nvPr>
            <p:ph type="title"/>
          </p:nvPr>
        </p:nvSpPr>
        <p:spPr>
          <a:xfrm>
            <a:off x="1206500" y="1079499"/>
            <a:ext cx="21971000" cy="1433165"/>
          </a:xfrm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Key Findings</a:t>
            </a:r>
          </a:p>
        </p:txBody>
      </p:sp>
      <p:sp>
        <p:nvSpPr>
          <p:cNvPr id="187" name="Text Placeholder 3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Trajectory (B) avg accuracy: 83.6%  vs  Post-Only (A): 24.7%</a:t>
            </a:r>
          </a:p>
          <a:p>
            <a:pPr/>
            <a:r>
              <a:t>B has zero forgetting on API name accuracy (BWT = 0.0)</a:t>
            </a:r>
          </a:p>
          <a:p>
            <a:pPr/>
            <a:r>
              <a:t>A loses ~12% of learned knowledge after each new block</a:t>
            </a:r>
          </a:p>
          <a:p>
            <a:pPr/>
            <a:r>
              <a:t>B forward transfer: 71.9%  vs  A: 28.1%</a:t>
            </a:r>
          </a:p>
          <a:p>
            <a:pPr/>
          </a:p>
          <a:p>
            <a:pPr/>
            <a:r>
              <a:t>Process supervision preserves structural knowledge (which tool to call)</a:t>
            </a:r>
          </a:p>
          <a:p>
            <a:pPr/>
            <a:r>
              <a:t>Parameter-level details still degrade (100% → 64%) — motivates Condition C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itle 1"/>
          <p:cNvSpPr txBox="1"/>
          <p:nvPr>
            <p:ph type="title"/>
          </p:nvPr>
        </p:nvSpPr>
        <p:spPr>
          <a:xfrm>
            <a:off x="1206500" y="1079499"/>
            <a:ext cx="21971000" cy="1433165"/>
          </a:xfrm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Next Steps</a:t>
            </a:r>
          </a:p>
        </p:txBody>
      </p:sp>
      <p:sp>
        <p:nvSpPr>
          <p:cNvPr id="190" name="Text Placeholder 3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Switch to Qwen3.5-4B (as specified in proposal)</a:t>
            </a:r>
          </a:p>
          <a:p>
            <a:pPr/>
            <a:r>
              <a:t>Run multiple seeds with bootstrap confidence intervals</a:t>
            </a:r>
          </a:p>
          <a:p>
            <a:pPr/>
            <a:r>
              <a:t>Equalize training token budgets for fair A vs B comparison</a:t>
            </a:r>
          </a:p>
          <a:p>
            <a:pPr/>
            <a:r>
              <a:t>Implement Condition C: replay buffer + retrieval memory</a:t>
            </a:r>
          </a:p>
          <a:p>
            <a:pPr/>
            <a:r>
              <a:t>Add calibration metrics (ECE, Brier score)</a:t>
            </a:r>
          </a:p>
          <a:p>
            <a:pPr/>
            <a:r>
              <a:t>Final analysis, figures, and report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